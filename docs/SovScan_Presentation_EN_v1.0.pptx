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spc="200">
                <a:solidFill>
                  <a:srgbClr val="86BC25"/>
                </a:solidFill>
                <a:latin typeface="Arial"/>
              </a:rPr>
              <a:t>DELOITTE DIGITAL SOVEREIGNTY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/>
              </a:rPr>
              <a:t>SovScan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063240"/>
            <a:ext cx="2194560" cy="508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Digital sovereignty mapped — from scenario assessment to audit.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AAAAAA"/>
                </a:solidFill>
                <a:latin typeface="Arial"/>
              </a:rPr>
              <a:t>The complete user flow in eight steps, with screenshots from the live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Deloitte Consulting Netherlands  ·  Version 1.0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 flow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024128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Two instruments, one platform — this deck follows the eight steps from the user manual.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26700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313432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6BC25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715768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Log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355848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Arial"/>
              </a:rPr>
              <a:t>Browser-based, no installation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148840"/>
            <a:ext cx="2670048" cy="1874519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2313432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715768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355848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A3B0C"/>
                </a:solidFill>
                <a:latin typeface="Arial"/>
              </a:rPr>
              <a:t>Assessments, audits &amp; invitations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148840"/>
            <a:ext cx="26700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313432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6BC25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715768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Complete the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355848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Arial"/>
              </a:rPr>
              <a:t>23 slider questions, live 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2148840"/>
            <a:ext cx="2670048" cy="1874519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8" y="2313432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2715768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Interpret the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3355848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A3B0C"/>
                </a:solidFill>
                <a:latin typeface="Arial"/>
              </a:rPr>
              <a:t>Scores per scenario + KOs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51959"/>
            <a:ext cx="26700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416551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6BC25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818887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Run the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458967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Arial"/>
              </a:rPr>
              <a:t>8 dimensions, scored 1–5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4251959"/>
            <a:ext cx="2670048" cy="1874519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4416551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4818887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Spider chart &amp;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5458967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A3B0C"/>
                </a:solidFill>
                <a:latin typeface="Arial"/>
              </a:rPr>
              <a:t>Radar vs. sector average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251959"/>
            <a:ext cx="26700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416551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6BC25"/>
                </a:solidFill>
                <a:latin typeface="Arial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818887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Invitations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5458967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Arial"/>
              </a:rPr>
              <a:t>Shareable links, no account needed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4251959"/>
            <a:ext cx="2670048" cy="1874519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8" y="4416551"/>
            <a:ext cx="2304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4818887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Tips &amp; FAQ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8" y="5458967"/>
            <a:ext cx="226771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A3B0C"/>
                </a:solidFill>
                <a:latin typeface="Arial"/>
              </a:rPr>
              <a:t>Handling uncertainty &amp; KOs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Log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Open the tool in your browser — no installation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8095" y="1816100"/>
            <a:ext cx="5863129" cy="418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78095" y="6002020"/>
            <a:ext cx="5863129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login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795" y="1828800"/>
            <a:ext cx="5837729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90795" y="6099048"/>
            <a:ext cx="58377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Login screen: two instruments, one platform (tool interface is in Dutch)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4892040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6BC25"/>
                </a:solidFill>
                <a:latin typeface="Arial"/>
              </a:rPr>
              <a:t>URL  </a:t>
            </a:r>
            <a:r>
              <a:rPr sz="1300" b="0">
                <a:solidFill>
                  <a:srgbClr val="FFFFFF"/>
                </a:solidFill>
                <a:latin typeface="Arial"/>
              </a:rPr>
              <a:t>sovscan-frontend-1473.azurewebsites.net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Default credentials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3017520"/>
          <a:ext cx="4892040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1737360"/>
                <a:gridCol w="155448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Username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Password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Consultant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see manual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Administrator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sovadmin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see manual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416052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66666"/>
                </a:solidFill>
                <a:latin typeface="Arial"/>
              </a:rPr>
              <a:t>Passwords are listed in the user manual (chapter 1).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80560"/>
            <a:ext cx="4892040" cy="914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80560"/>
            <a:ext cx="50800" cy="9144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08576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💡 Tip  </a:t>
            </a:r>
            <a:r>
              <a:rPr sz="1200" b="0">
                <a:solidFill>
                  <a:srgbClr val="666666"/>
                </a:solidFill>
                <a:latin typeface="Arial"/>
              </a:rPr>
              <a:t>Are you an administrator? Use the Admin Panel to create new users and manage permissions.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After logging in you see your personal dashboard — the starting point for both instruments.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48020" y="1816100"/>
            <a:ext cx="5923280" cy="40941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48020" y="5910249"/>
            <a:ext cx="5923280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dashboard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897880" cy="40687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6007277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Dashboard: choose Scenario Assessment (01) or Sovereignty Audit (02)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0292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86BC25"/>
                </a:solidFill>
                <a:latin typeface="Arial"/>
              </a:rPr>
              <a:t>▪  </a:t>
            </a:r>
            <a:r>
              <a:rPr sz="1400" b="1">
                <a:solidFill>
                  <a:srgbClr val="222222"/>
                </a:solidFill>
                <a:latin typeface="Arial"/>
              </a:rPr>
              <a:t>Your assessments</a:t>
            </a:r>
            <a:r>
              <a:rPr sz="1400" b="0">
                <a:solidFill>
                  <a:srgbClr val="666666"/>
                </a:solidFill>
                <a:latin typeface="Arial"/>
              </a:rPr>
              <a:t> — all previously completed scenario analyses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6BC25"/>
                </a:solidFill>
                <a:latin typeface="Arial"/>
              </a:rPr>
              <a:t>▪  </a:t>
            </a:r>
            <a:r>
              <a:rPr sz="1400" b="1">
                <a:solidFill>
                  <a:srgbClr val="222222"/>
                </a:solidFill>
                <a:latin typeface="Arial"/>
              </a:rPr>
              <a:t>Your audits</a:t>
            </a:r>
            <a:r>
              <a:rPr sz="1400" b="0">
                <a:solidFill>
                  <a:srgbClr val="666666"/>
                </a:solidFill>
                <a:latin typeface="Arial"/>
              </a:rPr>
              <a:t> — all previously performed sovereignty audits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6BC25"/>
                </a:solidFill>
                <a:latin typeface="Arial"/>
              </a:rPr>
              <a:t>▪  </a:t>
            </a:r>
            <a:r>
              <a:rPr sz="1400" b="1">
                <a:solidFill>
                  <a:srgbClr val="222222"/>
                </a:solidFill>
                <a:latin typeface="Arial"/>
              </a:rPr>
              <a:t>Manage invitations</a:t>
            </a:r>
            <a:r>
              <a:rPr sz="1400" b="0">
                <a:solidFill>
                  <a:srgbClr val="666666"/>
                </a:solidFill>
                <a:latin typeface="Arial"/>
              </a:rPr>
              <a:t> — shareable links for clients or colleagues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06240"/>
            <a:ext cx="4892040" cy="10515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50800" cy="10515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3425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6BC25"/>
                </a:solidFill>
                <a:latin typeface="Arial"/>
              </a:rPr>
              <a:t>Start right away  </a:t>
            </a:r>
            <a:r>
              <a:rPr sz="1200" b="0">
                <a:solidFill>
                  <a:srgbClr val="CCCCCC"/>
                </a:solidFill>
                <a:latin typeface="Arial"/>
              </a:rPr>
              <a:t>Click New Assessment or New Audit to begin immediately. You can always switch via the navigation.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Tool 1 — Sovereignty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Determine in under 10 minutes which cloud scenario best fits your project or organisation.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48020" y="1816100"/>
            <a:ext cx="5923280" cy="40941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48020" y="5910249"/>
            <a:ext cx="5923280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assessment-new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897880" cy="40687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6007277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New analysis: enter a project name and start the questionnaire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0292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23 slider questions</a:t>
            </a:r>
            <a:r>
              <a:rPr sz="1350" b="0">
                <a:solidFill>
                  <a:srgbClr val="666666"/>
                </a:solidFill>
                <a:latin typeface="Arial"/>
              </a:rPr>
              <a:t> — every question feeds into the sovereignty score</a:t>
            </a:r>
          </a:p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Four scenarios side by side</a:t>
            </a:r>
            <a:r>
              <a:rPr sz="1350" b="0">
                <a:solidFill>
                  <a:srgbClr val="666666"/>
                </a:solidFill>
                <a:latin typeface="Arial"/>
              </a:rPr>
              <a:t> — On-Premise, On-Premise Partner, EU Cloud and Hyperscaler</a:t>
            </a:r>
          </a:p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Live score preview</a:t>
            </a:r>
            <a:r>
              <a:rPr sz="1350" b="0">
                <a:solidFill>
                  <a:srgbClr val="666666"/>
                </a:solidFill>
                <a:latin typeface="Arial"/>
              </a:rPr>
              <a:t> — see the effect of every answer on all scenarios instantly</a:t>
            </a:r>
          </a:p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Objective comparison</a:t>
            </a:r>
            <a:r>
              <a:rPr sz="1350" b="0">
                <a:solidFill>
                  <a:srgbClr val="666666"/>
                </a:solidFill>
                <a:latin typeface="Arial"/>
              </a:rPr>
              <a:t> — based on your specific project 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 slider &amp; knock-out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024128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Answers are nuanced (0–100); hard legal boundaries eliminate a scenario instantly.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Score scale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502920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20040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Slider position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0 – 25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No (strong to slight)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25 – 50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Neutral / slight no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50 – 75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Neutral / slight yes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75 – 100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Yes (slight to strong)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069080"/>
            <a:ext cx="50292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069080"/>
            <a:ext cx="50800" cy="10515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97096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💡 Not sure?  </a:t>
            </a:r>
            <a:r>
              <a:rPr sz="1200" b="0">
                <a:solidFill>
                  <a:srgbClr val="666666"/>
                </a:solidFill>
                <a:latin typeface="Arial"/>
              </a:rPr>
              <a:t>Choose the neutral position (50). Neutral answers carry less weight than outspoken ones — the tool recognises uncertainty.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783080"/>
            <a:ext cx="5532120" cy="2788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842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86BC25"/>
                </a:solidFill>
                <a:latin typeface="Arial"/>
              </a:rPr>
              <a:t>LIVE SCORE PREVIEW · EXAMPLE: CLASSIFIED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5059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On-Premise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496312"/>
            <a:ext cx="2468880" cy="12801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496312"/>
            <a:ext cx="2172614" cy="12801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25912" y="245059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6BC25"/>
                </a:solidFill>
                <a:latin typeface="Arial"/>
              </a:rPr>
              <a:t>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6207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On-Premise Partner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907792"/>
            <a:ext cx="2468880" cy="12801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907792"/>
            <a:ext cx="1826971" cy="12801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25912" y="2862072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86BC25"/>
                </a:solidFill>
                <a:latin typeface="Arial"/>
              </a:rPr>
              <a:t>74%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7355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EU Cloud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319272"/>
            <a:ext cx="2468880" cy="12801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3319272"/>
            <a:ext cx="2468880" cy="128016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62488" y="3264408"/>
            <a:ext cx="566928" cy="237744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8503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Hyperscaler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30752"/>
            <a:ext cx="2468880" cy="12801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730752"/>
            <a:ext cx="2468880" cy="128016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62488" y="3675888"/>
            <a:ext cx="566928" cy="237744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06908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99999"/>
                </a:solidFill>
                <a:latin typeface="Arial"/>
              </a:rPr>
              <a:t>⚠ KO reason: commercial cloud is ruled out for classified (BBi+) data — EU Cloud and Hyperscaler are eliminated.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800600"/>
            <a:ext cx="553212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4800600"/>
            <a:ext cx="50800" cy="11887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928616"/>
            <a:ext cx="51206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Knock-Out (KO)  </a:t>
            </a:r>
            <a:r>
              <a:rPr sz="1200" b="0">
                <a:solidFill>
                  <a:srgbClr val="666666"/>
                </a:solidFill>
                <a:latin typeface="Arial"/>
              </a:rPr>
              <a:t>As soon as an answer exposes a legal or physical impossibility, the scenario is eliminated immediately — shown in red, with an explanation of why and what the alternative 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Interpreting the assessment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After the last question, an overview page appears with scores per scenario.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48020" y="1816100"/>
            <a:ext cx="5923280" cy="40941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48020" y="5910249"/>
            <a:ext cx="5923280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-scan-resultaa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897880" cy="40687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6007277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Analysis result: match score per scenario, with interpretation and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0292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Highest score without a KO</a:t>
            </a:r>
            <a:r>
              <a:rPr sz="1350" b="0">
                <a:solidFill>
                  <a:srgbClr val="666666"/>
                </a:solidFill>
                <a:latin typeface="Arial"/>
              </a:rPr>
              <a:t> — that is the recommended direction</a:t>
            </a:r>
          </a:p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Interpretation &amp; advice</a:t>
            </a:r>
            <a:r>
              <a:rPr sz="1350" b="0">
                <a:solidFill>
                  <a:srgbClr val="666666"/>
                </a:solidFill>
                <a:latin typeface="Arial"/>
              </a:rPr>
              <a:t> — the tool explains why a scenario fits</a:t>
            </a:r>
          </a:p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Export report</a:t>
            </a:r>
            <a:r>
              <a:rPr sz="1350" b="0">
                <a:solidFill>
                  <a:srgbClr val="666666"/>
                </a:solidFill>
                <a:latin typeface="Arial"/>
              </a:rPr>
              <a:t> — save and share the result with a single click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14800"/>
            <a:ext cx="4892040" cy="1143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14800"/>
            <a:ext cx="50800" cy="11430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42816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6BC25"/>
                </a:solidFill>
                <a:latin typeface="Arial"/>
              </a:rPr>
              <a:t>Example  </a:t>
            </a:r>
            <a:r>
              <a:rPr sz="1200" b="0">
                <a:solidFill>
                  <a:srgbClr val="CCCCCC"/>
                </a:solidFill>
                <a:latin typeface="Arial"/>
              </a:rPr>
              <a:t>Government project with classified (BBi) data: On-Premise Partner wins (74%); EU Cloud and Hyperscaler are eliminated by KO.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Tool 2 — Sovereignty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Not a scenario comparison, but an in-depth view of your current sovereignty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6620" y="2090420"/>
            <a:ext cx="5694680" cy="323410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76620" y="5324522"/>
            <a:ext cx="5694680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audit-lis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03120"/>
            <a:ext cx="5669280" cy="32087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542155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Audit overview: open earlier audits or start a new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52120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Eight dimensions</a:t>
            </a:r>
            <a:r>
              <a:rPr sz="1300" b="0">
                <a:solidFill>
                  <a:srgbClr val="666666"/>
                </a:solidFill>
                <a:latin typeface="Arial"/>
              </a:rPr>
              <a:t> — from data sovereignty to price/TCO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Score 1 to 5 per dimension</a:t>
            </a:r>
            <a:r>
              <a:rPr sz="1300" b="0">
                <a:solidFill>
                  <a:srgbClr val="666666"/>
                </a:solidFill>
                <a:latin typeface="Arial"/>
              </a:rPr>
              <a:t> — you rate today's reality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Sector benchmark</a:t>
            </a:r>
            <a:r>
              <a:rPr sz="1300" b="0">
                <a:solidFill>
                  <a:srgbClr val="666666"/>
                </a:solidFill>
                <a:latin typeface="Arial"/>
              </a:rPr>
              <a:t> — Government, Financial sector, Healthcare or Commercial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794760"/>
          <a:ext cx="5212080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/>
                <a:gridCol w="4206240"/>
              </a:tblGrid>
              <a:tr h="30175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Label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Not sovereign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Limited sovereignty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Partially sovereign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Largely sovereign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Fully sovereign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Audit result — the spider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Green area = your score per dimension; blue dashed line = the sector average.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18327" y="1953260"/>
            <a:ext cx="5582666" cy="404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18327" y="6002020"/>
            <a:ext cx="5582666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audit-result-spinnenweb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027" y="1965960"/>
            <a:ext cx="555726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31027" y="6099048"/>
            <a:ext cx="55572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Radar chart with total score, score per dimension and action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50292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Total sovereignty score</a:t>
            </a:r>
            <a:r>
              <a:rPr sz="1300" b="0">
                <a:solidFill>
                  <a:srgbClr val="666666"/>
                </a:solidFill>
                <a:latin typeface="Arial"/>
              </a:rPr>
              <a:t> — a single percentage as a management summary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Strongest &amp; weakest dimensions</a:t>
            </a:r>
            <a:r>
              <a:rPr sz="1300" b="0">
                <a:solidFill>
                  <a:srgbClr val="666666"/>
                </a:solidFill>
                <a:latin typeface="Arial"/>
              </a:rPr>
              <a:t> — identified automatically, with action advice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Below the benchmark?</a:t>
            </a:r>
            <a:r>
              <a:rPr sz="1300" b="0">
                <a:solidFill>
                  <a:srgbClr val="666666"/>
                </a:solidFill>
                <a:latin typeface="Arial"/>
              </a:rPr>
              <a:t> — then that is a priority area for the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What each colour means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23360"/>
            <a:ext cx="2468880" cy="292608"/>
          </a:xfrm>
          <a:prstGeom prst="rect">
            <a:avLst/>
          </a:prstGeom>
          <a:solidFill>
            <a:srgbClr val="2E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≥ 80%  Fully sovereign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023360"/>
            <a:ext cx="2468880" cy="292608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60–79%  Largely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07408"/>
            <a:ext cx="2468880" cy="292608"/>
          </a:xfrm>
          <a:prstGeom prst="rect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40–59%  Partially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407408"/>
            <a:ext cx="2468880" cy="292608"/>
          </a:xfrm>
          <a:prstGeom prst="rect">
            <a:avLst/>
          </a:prstGeom>
          <a:solidFill>
            <a:srgbClr val="FF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20–39%  Limited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91456"/>
            <a:ext cx="2468880" cy="292608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&lt; 20%  Not sovereign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Sending invitations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Let clients or colleagues complete an assessment or audit — without needing an account.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2670048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2670048" cy="508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86BC25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Click Invitations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in the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31089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86BC25"/>
                </a:solidFill>
                <a:latin typeface="Arial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286000"/>
            <a:ext cx="2670048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286000"/>
            <a:ext cx="2670048" cy="508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66160" y="256032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86BC25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46120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Configure the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0332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project name, type (Assessment or Audit) and expiry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31089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86BC25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286000"/>
            <a:ext cx="2670048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286000"/>
            <a:ext cx="2670048" cy="508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256032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86BC25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46120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Share the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copy and send via e-mail or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31089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86BC25"/>
                </a:solidFill>
                <a:latin typeface="Arial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2286000"/>
            <a:ext cx="2670048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2286000"/>
            <a:ext cx="2670048" cy="508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5440" y="256032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86BC25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246120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Result appears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70332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automatically in your dashboard once the recipient is done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46320"/>
            <a:ext cx="1120140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846320"/>
            <a:ext cx="50800" cy="868680"/>
          </a:xfrm>
          <a:prstGeom prst="rect">
            <a:avLst/>
          </a:prstGeom>
          <a:solidFill>
            <a:srgbClr val="FF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974336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Please note  </a:t>
            </a:r>
            <a:r>
              <a:rPr sz="1200" b="0">
                <a:solidFill>
                  <a:srgbClr val="666666"/>
                </a:solidFill>
                <a:latin typeface="Arial"/>
              </a:rPr>
              <a:t>The invitation link is valid until the expiry date you set; after that it can no longer be used. You can manage multiple invitations at once.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Tips &amp; frequently asked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557784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0800" cy="1188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5166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How do I save a result?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166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Automatically, after completing an assessment or audit. Everything is available in your dashboard.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83080"/>
            <a:ext cx="557784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50800" cy="1188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01952"/>
            <a:ext cx="5166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Can I redo an assessment?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5166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Yes — start a new assessment from the dashboard. Earlier versions are kept.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557784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50800" cy="1188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27832"/>
            <a:ext cx="5166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What if I don't know the answer?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5166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Set the slider to 50 (neutral). The tool recognises uncertainty and gives the answer less weight.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108960"/>
            <a:ext cx="557784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108960"/>
            <a:ext cx="50800" cy="1188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27832"/>
            <a:ext cx="5166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What exactly are KO criteria?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66160"/>
            <a:ext cx="5166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Hard legal or technical requirements that make a scenario impossible. The scenario is eliminated, with an explanation and mitigation advice.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434840"/>
            <a:ext cx="1120140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434840"/>
            <a:ext cx="50800" cy="1188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53712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How do I interpret the gap with the benchmark?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Dimensions significantly below the benchmark are priority areas — input for the roadmap conversation with your Deloitte advisor.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86BC25"/>
                </a:solidFill>
                <a:latin typeface="Arial"/>
              </a:rPr>
              <a:t>MAKE COMPLIANCE TANGIBLE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Use SovScan as a conversation starter.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AAAAA"/>
                </a:solidFill>
                <a:latin typeface="Arial"/>
              </a:rPr>
              <a:t>Fill in the questions together with your client and discuss the scores and KO criteria live — turning an abstract compliance discussion into something tangible.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603504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37083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6BC25"/>
                </a:solidFill>
                <a:latin typeface="Arial"/>
              </a:rPr>
              <a:t>▶  </a:t>
            </a:r>
            <a:r>
              <a:rPr sz="1500" b="1">
                <a:solidFill>
                  <a:srgbClr val="FFFFFF"/>
                </a:solidFill>
                <a:latin typeface="Arial"/>
              </a:rPr>
              <a:t>sovscan-frontend-1473.azurewebsites.net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SovScan · Deloitte Consulting Netherlands ·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