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spc="200">
                <a:solidFill>
                  <a:srgbClr val="86BC25"/>
                </a:solidFill>
                <a:latin typeface="Arial"/>
              </a:rPr>
              <a:t>DELOITTE DIGITAL SOVEREIGNTY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SovScan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063240"/>
            <a:ext cx="2194560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Digitale soevereiniteit in kaart — van scenario-assessment tot audit.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AAAAAA"/>
                </a:solidFill>
                <a:latin typeface="Arial"/>
              </a:rPr>
              <a:t>De volledige gebruikersflow in acht stappen, met screenshots uit de live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Deloitte Consulting Netherlands  ·  Versie 1.0  · 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 flow in één oogopslag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024128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Twee instrumenten, één platform — dit deck volgt de acht stappen uit de gebruikershandleiding.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2313432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15768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Inloggen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355848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Browser, geen installatie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148840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2313432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15768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355848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Assessments, audits &amp; uitnodigingen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48840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313432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715768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Assessment invullen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355848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23 slider-vragen, live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148840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2313432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715768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Resultaat interpreteren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355848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Scores per scenario + KO's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59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4416551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81888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Audit uitvoeren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58967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8 dimensies, score 1–5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251959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4416551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481888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Spinnenweb &amp;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458967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Radar vs. sectorgemiddelde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251959"/>
            <a:ext cx="2670048" cy="18745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4416551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6BC25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81888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Uitnodigingen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458967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BBBBBB"/>
                </a:solidFill>
                <a:latin typeface="Arial"/>
              </a:rPr>
              <a:t>Deelbare links zonder account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251959"/>
            <a:ext cx="2670048" cy="1874519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08008" y="4416551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481888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Tips &amp; FAQ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5458967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A3B0C"/>
                </a:solidFill>
                <a:latin typeface="Arial"/>
              </a:rPr>
              <a:t>Slim omgaan met twijfel &amp; KO's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Inloggen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Open de tool via uw browser — er is geen installatie nodig.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78095" y="1816100"/>
            <a:ext cx="5863129" cy="418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78095" y="6002020"/>
            <a:ext cx="5863129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-login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795" y="1828800"/>
            <a:ext cx="5837729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90795" y="6099048"/>
            <a:ext cx="58377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Loginscherm: twee instrumenten, één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892040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URL  </a:t>
            </a:r>
            <a:r>
              <a:rPr sz="1300" b="0">
                <a:solidFill>
                  <a:srgbClr val="FFFFFF"/>
                </a:solidFill>
                <a:latin typeface="Arial"/>
              </a:rPr>
              <a:t>sovscan-frontend-1473.azurewebsites.net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Standaard inloggegevens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3017520"/>
          <a:ext cx="4892040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Gebruikersnaam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Wachtwoord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Consultant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zie handleiding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Beheerder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sovadmin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zie handleiding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416052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66666"/>
                </a:solidFill>
                <a:latin typeface="Arial"/>
              </a:rPr>
              <a:t>Wachtwoorden staan in de gebruikershandleiding (hoofdstuk 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4892040" cy="914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480560"/>
            <a:ext cx="50800" cy="9144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08576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💡 Tip  </a:t>
            </a:r>
            <a:r>
              <a:rPr sz="1200" b="0">
                <a:solidFill>
                  <a:srgbClr val="666666"/>
                </a:solidFill>
                <a:latin typeface="Arial"/>
              </a:rPr>
              <a:t>Bent u beheerder? Gebruik het Admin Panel om nieuwe gebruikers aan te maken en rechten te beheren.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Na het inloggen ziet u uw persoonlijk dashboard — de startplek voor beide instrumenten.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2-dashboard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Dashboard: kies Scenario Assessment (01) of Soevereiniteitsaudit (02)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Uw assessments</a:t>
            </a:r>
            <a:r>
              <a:rPr sz="1400" b="0">
                <a:solidFill>
                  <a:srgbClr val="666666"/>
                </a:solidFill>
                <a:latin typeface="Arial"/>
              </a:rPr>
              <a:t> — alle eerder ingevulde scenario-analyses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Uw audits</a:t>
            </a:r>
            <a:r>
              <a:rPr sz="1400" b="0">
                <a:solidFill>
                  <a:srgbClr val="666666"/>
                </a:solidFill>
                <a:latin typeface="Arial"/>
              </a:rPr>
              <a:t> — alle eerder uitgevoerde soevereiniteitsaudits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6BC25"/>
                </a:solidFill>
                <a:latin typeface="Arial"/>
              </a:rPr>
              <a:t>▪  </a:t>
            </a:r>
            <a:r>
              <a:rPr sz="1400" b="1">
                <a:solidFill>
                  <a:srgbClr val="222222"/>
                </a:solidFill>
                <a:latin typeface="Arial"/>
              </a:rPr>
              <a:t>Uitnodigingen beheren</a:t>
            </a:r>
            <a:r>
              <a:rPr sz="1400" b="0">
                <a:solidFill>
                  <a:srgbClr val="666666"/>
                </a:solidFill>
                <a:latin typeface="Arial"/>
              </a:rPr>
              <a:t> — deelbare links voor klanten of collega's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4892040" cy="1051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50800" cy="10515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34256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Direct starten  </a:t>
            </a:r>
            <a:r>
              <a:rPr sz="1200" b="0">
                <a:solidFill>
                  <a:srgbClr val="CCCCCC"/>
                </a:solidFill>
                <a:latin typeface="Arial"/>
              </a:rPr>
              <a:t>Klik op Nieuw Assessment of Nieuwe Audit om meteen te beginnen. Wisselen kan altijd via de navigatie.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Tool 1 — Sovereignty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Bepaal in minder dan 10 minuten welk cloud-scenario past bij uw project of organisatie.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3-assessment-new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Nieuwe analyse: projectnaam invullen en vragenlijst starten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23 vragen met een schuifknop</a:t>
            </a:r>
            <a:r>
              <a:rPr sz="1350" b="0">
                <a:solidFill>
                  <a:srgbClr val="666666"/>
                </a:solidFill>
                <a:latin typeface="Arial"/>
              </a:rPr>
              <a:t> — elke vraag weegt mee in de soevereiniteitsscore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Vier scenario's naast elkaar</a:t>
            </a:r>
            <a:r>
              <a:rPr sz="1350" b="0">
                <a:solidFill>
                  <a:srgbClr val="666666"/>
                </a:solidFill>
                <a:latin typeface="Arial"/>
              </a:rPr>
              <a:t> — On-Premise, On-Premise Partner, EU Cloud en Hyperscaler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Live score-preview</a:t>
            </a:r>
            <a:r>
              <a:rPr sz="1350" b="0">
                <a:solidFill>
                  <a:srgbClr val="666666"/>
                </a:solidFill>
                <a:latin typeface="Arial"/>
              </a:rPr>
              <a:t> — u ziet per antwoord direct het effect op alle scenario's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Objectieve vergelijking</a:t>
            </a:r>
            <a:r>
              <a:rPr sz="1350" b="0">
                <a:solidFill>
                  <a:srgbClr val="666666"/>
                </a:solidFill>
                <a:latin typeface="Arial"/>
              </a:rPr>
              <a:t> — op basis van uw specifieke projecteisen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De slider &amp; Knock-Out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024128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Antwoorden zijn genuanceerd (0–100); harde juridische grenzen slaan een scenario direct 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Scoreschaal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50292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Slider-positie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Betekenis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0 – 25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Nee (sterk tot licht)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25 – 50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Neutraal / licht nee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50 – 75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Neutraal / licht ja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75 – 100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Arial"/>
                        </a:rPr>
                        <a:t>Ja (licht tot sterk)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069080"/>
            <a:ext cx="50292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4069080"/>
            <a:ext cx="50800" cy="10515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💡 Twijfelt u?  </a:t>
            </a:r>
            <a:r>
              <a:rPr sz="1200" b="0">
                <a:solidFill>
                  <a:srgbClr val="666666"/>
                </a:solidFill>
                <a:latin typeface="Arial"/>
              </a:rPr>
              <a:t>Kies de neutrale stand (50). Neutrale antwoorden wegen lichter mee dan uitgesproken keuzes — de tool herkent onzekerheid.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5532120" cy="2788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842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00">
                <a:solidFill>
                  <a:srgbClr val="86BC25"/>
                </a:solidFill>
                <a:latin typeface="Arial"/>
              </a:rPr>
              <a:t>LIVE SCORE-PREVIEW · VOORBEELD BBI-DATA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5059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On-Premise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9631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496312"/>
            <a:ext cx="2172614" cy="12801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25912" y="245059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86BC25"/>
                </a:solidFill>
                <a:latin typeface="Arial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620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On-Premise Partner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90779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907792"/>
            <a:ext cx="1826971" cy="12801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25912" y="286207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86BC25"/>
                </a:solidFill>
                <a:latin typeface="Arial"/>
              </a:rPr>
              <a:t>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EU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31927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3319272"/>
            <a:ext cx="2468880" cy="128016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62488" y="3264408"/>
            <a:ext cx="566928" cy="237744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8503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Hyperscaler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30752"/>
            <a:ext cx="2468880" cy="128016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730752"/>
            <a:ext cx="2468880" cy="128016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62488" y="3675888"/>
            <a:ext cx="566928" cy="237744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99999"/>
                </a:solidFill>
                <a:latin typeface="Arial"/>
              </a:rPr>
              <a:t>⚠ KO-reden: commerciële cloud is uitgesloten voor BBi+ data — EU Cloud en Hyperscaler vallen af.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800600"/>
            <a:ext cx="553212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4800600"/>
            <a:ext cx="50800" cy="118872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4928616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Knock-Out (KO)  </a:t>
            </a:r>
            <a:r>
              <a:rPr sz="1200" b="0">
                <a:solidFill>
                  <a:srgbClr val="666666"/>
                </a:solidFill>
                <a:latin typeface="Arial"/>
              </a:rPr>
              <a:t>Zodra een antwoord een juridische of fysieke onmogelijkheid blootlegt, valt het scenario direct af — rood weergegeven, mét toelichting waarom en wat het alternatief 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Assessment resultaat interpreteren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Na de laatste vraag verschijnt de overzichtspagina met scores per scenario.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48020" y="1816100"/>
            <a:ext cx="5923280" cy="409414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48020" y="5910249"/>
            <a:ext cx="59232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-scan-resultaa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97880" cy="4068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6007277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Analyse-resultaat: matchscore per scenario, met duiding en advies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Hoogste score zonder KO</a:t>
            </a:r>
            <a:r>
              <a:rPr sz="1350" b="0">
                <a:solidFill>
                  <a:srgbClr val="666666"/>
                </a:solidFill>
                <a:latin typeface="Arial"/>
              </a:rPr>
              <a:t> — dat is de aanbevolen richting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Duiding &amp; advies</a:t>
            </a:r>
            <a:r>
              <a:rPr sz="1350" b="0">
                <a:solidFill>
                  <a:srgbClr val="666666"/>
                </a:solidFill>
                <a:latin typeface="Arial"/>
              </a:rPr>
              <a:t> — de tool licht toe waaróm een scenario past</a:t>
            </a:r>
          </a:p>
          <a:p>
            <a:pPr algn="l">
              <a:spcAft>
                <a:spcPts val="1300"/>
              </a:spcAft>
            </a:pPr>
            <a:r>
              <a:rPr sz="1350" b="1">
                <a:solidFill>
                  <a:srgbClr val="86BC25"/>
                </a:solidFill>
                <a:latin typeface="Arial"/>
              </a:rPr>
              <a:t>▪  </a:t>
            </a:r>
            <a:r>
              <a:rPr sz="1350" b="1">
                <a:solidFill>
                  <a:srgbClr val="222222"/>
                </a:solidFill>
                <a:latin typeface="Arial"/>
              </a:rPr>
              <a:t>Rapport exporteren</a:t>
            </a:r>
            <a:r>
              <a:rPr sz="1350" b="0">
                <a:solidFill>
                  <a:srgbClr val="666666"/>
                </a:solidFill>
                <a:latin typeface="Arial"/>
              </a:rPr>
              <a:t> — resultaat opslaan en delen met één knop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14800"/>
            <a:ext cx="4892040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50800" cy="1143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42816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86BC25"/>
                </a:solidFill>
                <a:latin typeface="Arial"/>
              </a:rPr>
              <a:t>Voorbeeld  </a:t>
            </a:r>
            <a:r>
              <a:rPr sz="1200" b="0">
                <a:solidFill>
                  <a:srgbClr val="CCCCCC"/>
                </a:solidFill>
                <a:latin typeface="Arial"/>
              </a:rPr>
              <a:t>Overheidsproject met BBi-classificatie: On-Premise Partner wint (74%), EU Cloud en Hyperscaler vallen af op KO.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Tool 2 — Sovereignty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Geen scenario-vergelijking, maar een diepgaand beeld van uw huidige soevereiniteitsniveau.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6620" y="2090420"/>
            <a:ext cx="5694680" cy="323410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6620" y="5324522"/>
            <a:ext cx="5694680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-audit-lis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3120"/>
            <a:ext cx="5669280" cy="32087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42155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Auditoverzicht: eerdere audits openen of een nieuwe starten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2120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Acht dimensies</a:t>
            </a:r>
            <a:r>
              <a:rPr sz="1300" b="0">
                <a:solidFill>
                  <a:srgbClr val="666666"/>
                </a:solidFill>
                <a:latin typeface="Arial"/>
              </a:rPr>
              <a:t> — van data-soevereiniteit tot prijs/TCO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Score 1 t/m 5 per dimensie</a:t>
            </a:r>
            <a:r>
              <a:rPr sz="1300" b="0">
                <a:solidFill>
                  <a:srgbClr val="666666"/>
                </a:solidFill>
                <a:latin typeface="Arial"/>
              </a:rPr>
              <a:t> — u scoort de werkelijkheid van vandaag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Sectorale benchmark</a:t>
            </a:r>
            <a:r>
              <a:rPr sz="1300" b="0">
                <a:solidFill>
                  <a:srgbClr val="666666"/>
                </a:solidFill>
                <a:latin typeface="Arial"/>
              </a:rPr>
              <a:t> — Overheid, Financiële sector, Zorg of Commercieel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794760"/>
          <a:ext cx="521208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Label</a:t>
                      </a:r>
                    </a:p>
                  </a:txBody>
                  <a:tcPr marL="109728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Niet soeverein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Beperkt soeverein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Gedeeltelijk soeverein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Grotendeels soeverein</a:t>
                      </a:r>
                    </a:p>
                  </a:txBody>
                  <a:tcPr marL="109728" marR="73152" marT="27432" marB="27432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222"/>
                          </a:solidFill>
                          <a:latin typeface="Arial"/>
                        </a:rPr>
                        <a:t>Volledig soeverein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Auditresultaat — het spinnenweb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Groen vlak = uw score per dimensie; blauwe stippellijn = het sectorgemiddelde.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8327" y="1953260"/>
            <a:ext cx="5582666" cy="404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18327" y="6002020"/>
            <a:ext cx="5582666" cy="4445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6-audit-result-spinnenweb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027" y="1965960"/>
            <a:ext cx="555726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1027" y="6099048"/>
            <a:ext cx="555726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Arial"/>
              </a:rPr>
              <a:t>Radargrafiek met totaalscore, score per dimensie en aanpakadvies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Totale soevereiniteitsscore</a:t>
            </a:r>
            <a:r>
              <a:rPr sz="1300" b="0">
                <a:solidFill>
                  <a:srgbClr val="666666"/>
                </a:solidFill>
                <a:latin typeface="Arial"/>
              </a:rPr>
              <a:t> — één percentage als managementsamenvatting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Sterkste &amp; zwakste dimensies</a:t>
            </a:r>
            <a:r>
              <a:rPr sz="1300" b="0">
                <a:solidFill>
                  <a:srgbClr val="666666"/>
                </a:solidFill>
                <a:latin typeface="Arial"/>
              </a:rPr>
              <a:t> — automatisch benoemd, met aanpakadvies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86BC25"/>
                </a:solidFill>
                <a:latin typeface="Arial"/>
              </a:rPr>
              <a:t>▪  </a:t>
            </a:r>
            <a:r>
              <a:rPr sz="1300" b="1">
                <a:solidFill>
                  <a:srgbClr val="222222"/>
                </a:solidFill>
                <a:latin typeface="Arial"/>
              </a:rPr>
              <a:t>Onder de benchmark?</a:t>
            </a:r>
            <a:r>
              <a:rPr sz="1300" b="0">
                <a:solidFill>
                  <a:srgbClr val="666666"/>
                </a:solidFill>
                <a:latin typeface="Arial"/>
              </a:rPr>
              <a:t> — dan is dat een prioriteitsgebied voor de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Scorebetekenis per kleur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2468880" cy="292608"/>
          </a:xfrm>
          <a:prstGeom prst="rect">
            <a:avLst/>
          </a:prstGeom>
          <a:solidFill>
            <a:srgbClr val="2E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≥ 80%  Volledig soeverein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023360"/>
            <a:ext cx="2468880" cy="2926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60–79%  Grotendeels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07408"/>
            <a:ext cx="2468880" cy="292608"/>
          </a:xfrm>
          <a:prstGeom prst="rect">
            <a:avLst/>
          </a:prstGeom>
          <a:solidFill>
            <a:srgbClr val="F5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40–59%  Gedeeltelijk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407408"/>
            <a:ext cx="2468880" cy="292608"/>
          </a:xfrm>
          <a:prstGeom prst="rect">
            <a:avLst/>
          </a:prstGeom>
          <a:solidFill>
            <a:srgbClr val="FF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20–39%  Beperkt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91456"/>
            <a:ext cx="2468880" cy="292608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&lt; 20%  Niet soeverein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Uitnodigingen versturen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0934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Laat klanten of collega's een assessment of audit invullen — zonder dat zij een account nodig hebben.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Klik op Uitnodigingen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in het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3108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6616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Configureer de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0332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projectnaam, type (Assessment of Audit) en vervaldatum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3108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Deel de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kopieer en verstuur via e-mail of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1089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86BC25"/>
                </a:solidFill>
                <a:latin typeface="Arial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286000"/>
            <a:ext cx="2670048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2286000"/>
            <a:ext cx="2670048" cy="508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35440" y="256032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86BC25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4612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Resultaat verschijnt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70332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automatisch in uw dashboard zodra de ontvanger klaar 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112014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846320"/>
            <a:ext cx="50800" cy="868680"/>
          </a:xfrm>
          <a:prstGeom prst="rect">
            <a:avLst/>
          </a:prstGeom>
          <a:solidFill>
            <a:srgbClr val="FF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74336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Let op  </a:t>
            </a:r>
            <a:r>
              <a:rPr sz="1200" b="0">
                <a:solidFill>
                  <a:srgbClr val="666666"/>
                </a:solidFill>
                <a:latin typeface="Arial"/>
              </a:rPr>
              <a:t>De uitnodigingslink is geldig tot de ingestelde vervaldatum; daarna is de link niet meer bruikbaar. U kunt meerdere uitnodigingen tegelijk beheren.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51560" cy="31089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STAP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Tips &amp; veelgestelde vragen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463040"/>
            <a:ext cx="1463040" cy="381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Hoe sla ik een resultaat 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Automatisch, na het afronden van een assessment of audit. U vindt alles terug in uw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Kan ik een assessment opnieuw invullen?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Ja — start een nieuw assessment via het dashboard. Eerdere versies blijven bewaard.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Wat als ik een vraag niet weet?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Zet de slider op 50 (neutraal). De tool herkent onzekerheid en weegt het antwoord lichter mee.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108960"/>
            <a:ext cx="557784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10896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227832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Wat zijn KO-criteria precies?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166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Harde juridische of technische eisen die een scenario onmogelijk maken. Het scenario valt af, mét uitleg en mitigatieadvies.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11201400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50800" cy="1188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Hoe interpreteer ik het verschil met de benchmark?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66666"/>
                </a:solidFill>
                <a:latin typeface="Arial"/>
              </a:rPr>
              <a:t>Dimensies significant onder de benchmark zijn prioriteitsgebieden — input voor het roadmap-gesprek met uw Deloitte-adviseur.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82512"/>
            <a:ext cx="11185855" cy="101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Arial"/>
              </a:rPr>
              <a:t>SovScan · Deloitte Digital Sovereignty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200">
                <a:solidFill>
                  <a:srgbClr val="86BC25"/>
                </a:solidFill>
                <a:latin typeface="Arial"/>
              </a:rPr>
              <a:t>MAAK COMPLIANCE CONCREET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Gebruik SovScan als gespreksopener.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Vul samen met de klant de vragen in en bespreek live de scores en KO-criteria — zo wordt een abstracte compliance-discussie direct concreet.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60350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6BC25"/>
                </a:solidFill>
                <a:latin typeface="Arial"/>
              </a:rPr>
              <a:t>▶  </a:t>
            </a:r>
            <a:r>
              <a:rPr sz="1500" b="1">
                <a:solidFill>
                  <a:srgbClr val="FFFFFF"/>
                </a:solidFill>
                <a:latin typeface="Arial"/>
              </a:rPr>
              <a:t>sovscan-frontend-1473.azurewebsites.net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SovScan · Deloitte Consulting Netherlands ·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1093</Words>
  <Application>Microsoft Macintosh PowerPoint</Application>
  <PresentationFormat>Breedbeeld</PresentationFormat>
  <Paragraphs>185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Rienks, Rutger</cp:lastModifiedBy>
  <cp:revision>1</cp:revision>
  <dcterms:created xsi:type="dcterms:W3CDTF">2013-01-27T09:14:16Z</dcterms:created>
  <dcterms:modified xsi:type="dcterms:W3CDTF">2026-07-16T15:18:42Z</dcterms:modified>
  <cp:category/>
</cp:coreProperties>
</file>